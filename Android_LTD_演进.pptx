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Android Live Threat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D4AA"/>
                </a:solidFill>
                <a:latin typeface="Microsoft YaHei"/>
              </a:defRPr>
            </a:pPr>
            <a:r>
              <a:t>演进历程 &amp; 软件架构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474720"/>
            <a:ext cx="22860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7490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A5"/>
                </a:solidFill>
                <a:latin typeface="Microsoft YaHei"/>
              </a:defRPr>
            </a:pPr>
            <a:r>
              <a:t>LTD + DSM  ·  从端侧 AI 到全方位实时威胁防御  |  2024 –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029200"/>
            <a:ext cx="457200" cy="45720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37360" y="5029200"/>
            <a:ext cx="457200" cy="457200"/>
          </a:xfrm>
          <a:prstGeom prst="round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77440" y="5029200"/>
            <a:ext cx="457200" cy="457200"/>
          </a:xfrm>
          <a:prstGeom prst="round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17520" y="5029200"/>
            <a:ext cx="457200" cy="45720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669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B4250"/>
                </a:solidFill>
                <a:latin typeface="Microsoft YaHei"/>
              </a:defRPr>
            </a:pPr>
            <a:r>
              <a:t>Google Play Protect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217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3B4250"/>
                </a:solidFill>
                <a:latin typeface="Microsoft YaHei"/>
              </a:defRPr>
            </a:pPr>
            <a:r>
              <a:t>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什么是 Live Threat Detection？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A5"/>
                </a:solidFill>
                <a:latin typeface="Microsoft YaHei"/>
              </a:defRPr>
            </a:pPr>
            <a:r>
              <a:t>Google Play Protect 的重大安全升级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3B4250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029200" cy="2103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5350"/>
                </a:solidFill>
                <a:latin typeface="Microsoft YaHei"/>
              </a:defRPr>
            </a:pPr>
            <a:r>
              <a:t>❌  传统方案的局限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  <a:r>
              <a:t>• 仅在安装时做一次性静态扫描</a:t>
            </a:r>
          </a:p>
          <a:p>
            <a:pPr>
              <a:spcAft>
                <a:spcPts val="120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  <a:r>
              <a:t>• 云端检测，无法感知 App 实际运行行为</a:t>
            </a:r>
          </a:p>
          <a:p>
            <a:pPr>
              <a:spcAft>
                <a:spcPts val="120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  <a:r>
              <a:t>• 恶意软件可潜伏后激活，轻松绕过</a:t>
            </a:r>
          </a:p>
          <a:p>
            <a:pPr>
              <a:spcAft>
                <a:spcPts val="120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  <a:r>
              <a:t>• 无法应对伪装（改名/改图标/延迟作恶）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029200" cy="2103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BB6A"/>
                </a:solidFill>
                <a:latin typeface="Microsoft YaHei"/>
              </a:defRPr>
            </a:pPr>
            <a:r>
              <a:t>✅  LTD 的解决方案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402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  <a:r>
              <a:t>• 端侧 AI 实时监控 App 行为</a:t>
            </a:r>
          </a:p>
          <a:p>
            <a:pPr>
              <a:spcAft>
                <a:spcPts val="120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  <a:r>
              <a:t>• 基于 Private Compute Core，数据不出设备</a:t>
            </a:r>
          </a:p>
          <a:p>
            <a:pPr>
              <a:spcAft>
                <a:spcPts val="120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  <a:r>
              <a:t>• 检测敏感权限滥用、App 间异常交互</a:t>
            </a:r>
          </a:p>
          <a:p>
            <a:pPr>
              <a:spcAft>
                <a:spcPts val="120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  <a:r>
              <a:t>• 伪装检测（图标/名称变更、后台隐藏）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10515600" cy="777240"/>
          </a:xfrm>
          <a:prstGeom prst="roundRect">
            <a:avLst/>
          </a:prstGeom>
          <a:solidFill>
            <a:srgbClr val="0A2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  <a:latin typeface="Microsoft YaHei"/>
              </a:defRPr>
            </a:pPr>
            <a:r>
              <a:t>💡 核心转变：从 "安装时一次性体检" → "全天候实时健康监测"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74920"/>
            <a:ext cx="3291840" cy="10972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074920"/>
            <a:ext cx="3291840" cy="381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12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285F4"/>
                </a:solidFill>
                <a:latin typeface="Microsoft YaHei"/>
              </a:defRPr>
            </a:pPr>
            <a:r>
              <a:t>2024.05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Google I/O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60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A5"/>
                </a:solidFill>
                <a:latin typeface="Microsoft YaHei"/>
              </a:defRPr>
            </a:pPr>
            <a:r>
              <a:t>首次发布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5074920"/>
            <a:ext cx="3291840" cy="10972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5074920"/>
            <a:ext cx="3291840" cy="381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5212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A853"/>
                </a:solidFill>
                <a:latin typeface="Microsoft YaHei"/>
              </a:defRPr>
            </a:pPr>
            <a:r>
              <a:t>2024.11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486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正式上线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760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A5"/>
                </a:solidFill>
                <a:latin typeface="Microsoft YaHei"/>
              </a:defRPr>
            </a:pPr>
            <a:r>
              <a:t>Pixel 6+ 首发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5074920"/>
            <a:ext cx="3291840" cy="10972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5074920"/>
            <a:ext cx="3291840" cy="381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5212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A4335"/>
                </a:solidFill>
                <a:latin typeface="Microsoft YaHei"/>
              </a:defRPr>
            </a:pPr>
            <a:r>
              <a:t>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486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Android 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760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A5"/>
                </a:solidFill>
                <a:latin typeface="Microsoft YaHei"/>
              </a:defRPr>
            </a:pPr>
            <a:r>
              <a:t>全方位防护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演进时间线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A5"/>
                </a:solidFill>
                <a:latin typeface="Microsoft YaHei"/>
              </a:defRPr>
            </a:pPr>
            <a:r>
              <a:t>2024 – 2026 关键里程碑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3B425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1965960" y="1554480"/>
            <a:ext cx="38100" cy="4754880"/>
          </a:xfrm>
          <a:prstGeom prst="rect">
            <a:avLst/>
          </a:prstGeom>
          <a:solidFill>
            <a:srgbClr val="3B4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83664" y="1618488"/>
            <a:ext cx="256032" cy="256032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42A5F5"/>
                </a:solidFill>
                <a:latin typeface="Microsoft YaHei"/>
              </a:defRPr>
            </a:pPr>
            <a:r>
              <a:t>2024.05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508760"/>
            <a:ext cx="8229600" cy="10058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57276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Google I/O 发布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0195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端侧 AI 威胁检测概念首次公布</a:t>
            </a:r>
          </a:p>
          <a:p>
            <a:pPr>
              <a:spcAft>
                <a:spcPts val="65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定位为取代纯云端扫描的下一代方案</a:t>
            </a:r>
          </a:p>
        </p:txBody>
      </p:sp>
      <p:sp>
        <p:nvSpPr>
          <p:cNvPr id="12" name="Oval 11"/>
          <p:cNvSpPr/>
          <p:nvPr/>
        </p:nvSpPr>
        <p:spPr>
          <a:xfrm>
            <a:off x="1883664" y="2807208"/>
            <a:ext cx="256032" cy="256032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D4AA"/>
                </a:solidFill>
                <a:latin typeface="Microsoft YaHei"/>
              </a:defRPr>
            </a:pPr>
            <a:r>
              <a:t>2024.11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2697480"/>
            <a:ext cx="8229600" cy="10058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276148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正式上线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09067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Pixel 6+ 设备首发 (Android 15)</a:t>
            </a:r>
          </a:p>
          <a:p>
            <a:pPr>
              <a:spcAft>
                <a:spcPts val="65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聚焦 Stalkerware 监控软件检测</a:t>
            </a:r>
          </a:p>
        </p:txBody>
      </p:sp>
      <p:sp>
        <p:nvSpPr>
          <p:cNvPr id="17" name="Oval 16"/>
          <p:cNvSpPr/>
          <p:nvPr/>
        </p:nvSpPr>
        <p:spPr>
          <a:xfrm>
            <a:off x="1883664" y="3995928"/>
            <a:ext cx="256032" cy="256032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31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66BB6A"/>
                </a:solidFill>
                <a:latin typeface="Microsoft YaHei"/>
              </a:defRPr>
            </a:pPr>
            <a:r>
              <a:t>2025.10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3886200"/>
            <a:ext cx="8229600" cy="10058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395020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Dashboard + 扩展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27939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专属 LTD 面板上线；扩展到 OPPO、</a:t>
            </a:r>
          </a:p>
          <a:p>
            <a:pPr>
              <a:spcAft>
                <a:spcPts val="65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荣耀、联想、一加、Nothing 等品牌</a:t>
            </a:r>
          </a:p>
        </p:txBody>
      </p:sp>
      <p:sp>
        <p:nvSpPr>
          <p:cNvPr id="22" name="Oval 21"/>
          <p:cNvSpPr/>
          <p:nvPr/>
        </p:nvSpPr>
        <p:spPr>
          <a:xfrm>
            <a:off x="1883664" y="5184648"/>
            <a:ext cx="256032" cy="256032"/>
          </a:xfrm>
          <a:prstGeom prst="ellipse">
            <a:avLst/>
          </a:prstGeom>
          <a:solidFill>
            <a:srgbClr val="FFC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1206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CA28"/>
                </a:solidFill>
                <a:latin typeface="Microsoft YaHei"/>
              </a:defRPr>
            </a:pPr>
            <a:r>
              <a:t>2026.05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51760" y="5074920"/>
            <a:ext cx="8229600" cy="10058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51389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Android 17 + DSM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46811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SMS 转发检测、无障碍叠加攻击检测</a:t>
            </a:r>
          </a:p>
          <a:p>
            <a:pPr>
              <a:spcAft>
                <a:spcPts val="650"/>
              </a:spcAft>
              <a:defRPr sz="1300">
                <a:solidFill>
                  <a:srgbClr val="B0B8C4"/>
                </a:solidFill>
                <a:latin typeface="Microsoft YaHei"/>
              </a:defRPr>
            </a:pPr>
            <a:r>
              <a:t>Dynamic Signal Monitoring 上线，规则热更新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软件架构总览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A5"/>
                </a:solidFill>
                <a:latin typeface="Microsoft YaHei"/>
              </a:defRPr>
            </a:pPr>
            <a:r>
              <a:t>LTD + DSM — 分层架构与数据流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3B425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5074920"/>
            <a:ext cx="9601200" cy="1097280"/>
          </a:xfrm>
          <a:prstGeom prst="roundRect">
            <a:avLst/>
          </a:prstGeom>
          <a:solidFill>
            <a:srgbClr val="1E2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5074920"/>
            <a:ext cx="63500" cy="1097280"/>
          </a:xfrm>
          <a:prstGeom prst="rect">
            <a:avLst/>
          </a:prstGeom>
          <a:solidFill>
            <a:srgbClr val="3B4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94A5"/>
                </a:solidFill>
                <a:latin typeface="Microsoft YaHei"/>
              </a:defRPr>
            </a:pPr>
            <a:r>
              <a:t>🖥️  Android OS 基础层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94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3B4250"/>
                </a:solidFill>
                <a:latin typeface="Microsoft YaHei"/>
              </a:defRPr>
            </a:pPr>
            <a:r>
              <a:t>Linux Kernel  ·  HAL  ·  System Services  ·  Package Manager  ·  Permission Manager  ·  Accessibility 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931920"/>
            <a:ext cx="9601200" cy="1005840"/>
          </a:xfrm>
          <a:prstGeom prst="roundRect">
            <a:avLst/>
          </a:prstGeom>
          <a:solidFill>
            <a:srgbClr val="1E2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3931920"/>
            <a:ext cx="63500" cy="10058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9776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85F4"/>
                </a:solidFill>
                <a:latin typeface="Microsoft YaHei"/>
              </a:defRPr>
            </a:pPr>
            <a:r>
              <a:t>📡  信号采集层 (Signal Collection)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2519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App 行为事件  ·  系统调用追踪  ·  权限使用记录  ·  网络活动  ·  SMS/通话事件  ·  进程间通信 (IPC)  ·  图标/名称变更钩子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286000"/>
            <a:ext cx="9601200" cy="1508760"/>
          </a:xfrm>
          <a:prstGeom prst="roundRect">
            <a:avLst/>
          </a:prstGeom>
          <a:solidFill>
            <a:srgbClr val="0A1E1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331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Microsoft YaHei"/>
              </a:defRPr>
            </a:pPr>
            <a:r>
              <a:t>🔒  Private Compute Core（隐私沙盒）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3317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D4AA"/>
                </a:solidFill>
                <a:latin typeface="Microsoft YaHei"/>
              </a:defRPr>
            </a:pPr>
            <a:r>
              <a:t>⚡ 网络隔离 · 数据不出设备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2697480"/>
            <a:ext cx="4297680" cy="960120"/>
          </a:xfrm>
          <a:prstGeom prst="roundRect">
            <a:avLst/>
          </a:prstGeom>
          <a:solidFill>
            <a:srgbClr val="1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63040" y="2697480"/>
            <a:ext cx="50800" cy="9601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37360" y="27432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Microsoft YaHei"/>
              </a:defRPr>
            </a:pPr>
            <a:r>
              <a:t>🧠  Live Threat Detection 引擎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0175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行为分析 · 权限滥用检测 · Stalkerware 识别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697480"/>
            <a:ext cx="4297680" cy="960120"/>
          </a:xfrm>
          <a:prstGeom prst="roundRect">
            <a:avLst/>
          </a:prstGeom>
          <a:solidFill>
            <a:srgbClr val="25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697480"/>
            <a:ext cx="50800" cy="960120"/>
          </a:xfrm>
          <a:prstGeom prst="rect">
            <a:avLst/>
          </a:prstGeom>
          <a:solidFill>
            <a:srgbClr val="FFC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7432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A28"/>
                </a:solidFill>
                <a:latin typeface="Microsoft YaHei"/>
              </a:defRPr>
            </a:pPr>
            <a:r>
              <a:t>⚡  Dynamic Signal Monitoring 引擎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0175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实时模式监控 · 图标隐藏检测 · 叠加层攻击 · SMS 转发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806440" y="3063240"/>
            <a:ext cx="320040" cy="18288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63040" y="2331720"/>
            <a:ext cx="9144000" cy="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371600"/>
            <a:ext cx="9601200" cy="777240"/>
          </a:xfrm>
          <a:prstGeom prst="roundRect">
            <a:avLst/>
          </a:prstGeom>
          <a:solidFill>
            <a:srgbClr val="1E2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" y="1371600"/>
            <a:ext cx="63500" cy="7772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4335"/>
                </a:solidFill>
                <a:latin typeface="Microsoft YaHei"/>
              </a:defRPr>
            </a:pPr>
            <a:r>
              <a:t>🚨  告警与响应层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16916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B0B8C4"/>
                </a:solidFill>
                <a:latin typeface="Microsoft YaHei"/>
              </a:defRPr>
            </a:pPr>
            <a:r>
              <a:t>Play Protect Dashboard  ·  "Unsafe app found" 通知  ·  一键卸载/限制权限  ·  Play Store 应用状态同步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881360" y="2286000"/>
            <a:ext cx="1097280" cy="38862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C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27080" y="2377440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A28"/>
                </a:solidFill>
                <a:latin typeface="Microsoft YaHei"/>
              </a:defRPr>
            </a:pPr>
            <a:r>
              <a:t>☁️</a:t>
            </a:r>
            <a:br/>
            <a:r>
              <a:t>Google</a:t>
            </a:r>
            <a:br/>
            <a:r>
              <a:t>Cloud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27080" y="3657600"/>
            <a:ext cx="1005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50"/>
              </a:spcAft>
              <a:defRPr sz="900">
                <a:solidFill>
                  <a:srgbClr val="8B94A5"/>
                </a:solidFill>
                <a:latin typeface="Microsoft YaHei"/>
              </a:defRPr>
            </a:pPr>
            <a:r>
              <a:t>检测规则</a:t>
            </a:r>
          </a:p>
          <a:p>
            <a:pPr algn="ctr">
              <a:spcAft>
                <a:spcPts val="450"/>
              </a:spcAft>
              <a:defRPr sz="900">
                <a:solidFill>
                  <a:srgbClr val="8B94A5"/>
                </a:solidFill>
                <a:latin typeface="Microsoft YaHei"/>
              </a:defRPr>
            </a:pPr>
            <a:r>
              <a:t>热更新</a:t>
            </a:r>
          </a:p>
          <a:p>
            <a:pPr algn="ctr">
              <a:spcAft>
                <a:spcPts val="450"/>
              </a:spcAft>
              <a:defRPr sz="900">
                <a:solidFill>
                  <a:srgbClr val="8B94A5"/>
                </a:solidFill>
                <a:latin typeface="Microsoft YaHei"/>
              </a:defRPr>
            </a:pPr>
            <a:r>
              <a:t>(不上传</a:t>
            </a:r>
          </a:p>
          <a:p>
            <a:pPr algn="ctr">
              <a:spcAft>
                <a:spcPts val="450"/>
              </a:spcAft>
              <a:defRPr sz="900">
                <a:solidFill>
                  <a:srgbClr val="8B94A5"/>
                </a:solidFill>
                <a:latin typeface="Microsoft YaHei"/>
              </a:defRPr>
            </a:pPr>
            <a:r>
              <a:t>用户数据)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5760720" y="2148840"/>
            <a:ext cx="274320" cy="182880"/>
          </a:xfrm>
          <a:prstGeom prst="down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0" y="25603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CA28"/>
                </a:solidFill>
                <a:latin typeface="Microsoft YaHei"/>
              </a:defRPr>
            </a:pPr>
            <a:r>
              <a:t>→ 规则同步 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4250"/>
                </a:solidFill>
                <a:latin typeface="Microsoft YaHei"/>
              </a:defRPr>
            </a:pPr>
            <a:r>
              <a:t>🔒 所有用户数据在 Private Compute Core 内处理，云端仅下发检测规则，不上传任何隐私数据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LTD 与 DSM 详细架构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A5"/>
                </a:solidFill>
                <a:latin typeface="Microsoft YaHei"/>
              </a:defRPr>
            </a:pPr>
            <a:r>
              <a:t>组件关系 · 数据流 · 检测维度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3B4250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5303520" cy="4937760"/>
          </a:xfrm>
          <a:prstGeom prst="roundRect">
            <a:avLst/>
          </a:prstGeom>
          <a:noFill/>
          <a:ln w="12700">
            <a:solidFill>
              <a:srgbClr val="00D4A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Microsoft YaHei"/>
              </a:defRPr>
            </a:pPr>
            <a:r>
              <a:t>🧠  Live Threat Detection (LTD)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A5"/>
                </a:solidFill>
                <a:latin typeface="Microsoft YaHei"/>
              </a:defRPr>
            </a:pPr>
            <a:r>
              <a:t>核心行为检测引擎  ·  2024 年上线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4754880" cy="685800"/>
          </a:xfrm>
          <a:prstGeom prst="roundRect">
            <a:avLst/>
          </a:prstGeom>
          <a:solidFill>
            <a:srgbClr val="1E2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240280"/>
            <a:ext cx="50800" cy="685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📊  行为分析器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603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900">
                <a:solidFill>
                  <a:srgbClr val="8B94A5"/>
                </a:solidFill>
                <a:latin typeface="Microsoft YaHei"/>
              </a:defRPr>
            </a:pPr>
            <a:r>
              <a:t>分析 App 运行时行为序列</a:t>
            </a:r>
          </a:p>
          <a:p>
            <a:pPr>
              <a:spcAft>
                <a:spcPts val="179"/>
              </a:spcAft>
              <a:defRPr sz="900">
                <a:solidFill>
                  <a:srgbClr val="8B94A5"/>
                </a:solidFill>
                <a:latin typeface="Microsoft YaHei"/>
              </a:defRPr>
            </a:pPr>
            <a:r>
              <a:t>识别异常权限使用模式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4754880" cy="685800"/>
          </a:xfrm>
          <a:prstGeom prst="roundRect">
            <a:avLst/>
          </a:prstGeom>
          <a:solidFill>
            <a:srgbClr val="1E2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017520"/>
            <a:ext cx="50800" cy="685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063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🔍  权限滥用检测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3375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900">
                <a:solidFill>
                  <a:srgbClr val="8B94A5"/>
                </a:solidFill>
                <a:latin typeface="Microsoft YaHei"/>
              </a:defRPr>
            </a:pPr>
            <a:r>
              <a:t>监控敏感权限调用</a:t>
            </a:r>
          </a:p>
          <a:p>
            <a:pPr>
              <a:spcAft>
                <a:spcPts val="179"/>
              </a:spcAft>
              <a:defRPr sz="900">
                <a:solidFill>
                  <a:srgbClr val="8B94A5"/>
                </a:solidFill>
                <a:latin typeface="Microsoft YaHei"/>
              </a:defRPr>
            </a:pPr>
            <a:r>
              <a:t>(相机/麦克风/位置/短信)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94760"/>
            <a:ext cx="4754880" cy="685800"/>
          </a:xfrm>
          <a:prstGeom prst="roundRect">
            <a:avLst/>
          </a:prstGeom>
          <a:solidFill>
            <a:srgbClr val="1E2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794760"/>
            <a:ext cx="50800" cy="685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840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👁️  Stalkerware 识别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1148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900">
                <a:solidFill>
                  <a:srgbClr val="8B94A5"/>
                </a:solidFill>
                <a:latin typeface="Microsoft YaHei"/>
              </a:defRPr>
            </a:pPr>
            <a:r>
              <a:t>检测暗中收集个人数据</a:t>
            </a:r>
          </a:p>
          <a:p>
            <a:pPr>
              <a:spcAft>
                <a:spcPts val="179"/>
              </a:spcAft>
              <a:defRPr sz="900">
                <a:solidFill>
                  <a:srgbClr val="8B94A5"/>
                </a:solidFill>
                <a:latin typeface="Microsoft YaHei"/>
              </a:defRPr>
            </a:pPr>
            <a:r>
              <a:t>的监控类恶意软件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572000"/>
            <a:ext cx="4754880" cy="685800"/>
          </a:xfrm>
          <a:prstGeom prst="roundRect">
            <a:avLst/>
          </a:prstGeom>
          <a:solidFill>
            <a:srgbClr val="1E2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572000"/>
            <a:ext cx="50800" cy="685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617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🔄  IPC 监控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8920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900">
                <a:solidFill>
                  <a:srgbClr val="8B94A5"/>
                </a:solidFill>
                <a:latin typeface="Microsoft YaHei"/>
              </a:defRPr>
            </a:pPr>
            <a:r>
              <a:t>追踪 App 间通信</a:t>
            </a:r>
          </a:p>
          <a:p>
            <a:pPr>
              <a:spcAft>
                <a:spcPts val="179"/>
              </a:spcAft>
              <a:defRPr sz="900">
                <a:solidFill>
                  <a:srgbClr val="8B94A5"/>
                </a:solidFill>
                <a:latin typeface="Microsoft YaHei"/>
              </a:defRPr>
            </a:pPr>
            <a:r>
              <a:t>发现数据窃取链路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349240"/>
            <a:ext cx="4754880" cy="685800"/>
          </a:xfrm>
          <a:prstGeom prst="roundRect">
            <a:avLst/>
          </a:prstGeom>
          <a:solidFill>
            <a:srgbClr val="1E2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5349240"/>
            <a:ext cx="50800" cy="685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394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🎭  伪装检测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6692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900">
                <a:solidFill>
                  <a:srgbClr val="8B94A5"/>
                </a:solidFill>
                <a:latin typeface="Microsoft YaHei"/>
              </a:defRPr>
            </a:pPr>
            <a:r>
              <a:t>App 改名/改图标后</a:t>
            </a:r>
          </a:p>
          <a:p>
            <a:pPr>
              <a:spcAft>
                <a:spcPts val="179"/>
              </a:spcAft>
              <a:defRPr sz="900">
                <a:solidFill>
                  <a:srgbClr val="8B94A5"/>
                </a:solidFill>
                <a:latin typeface="Microsoft YaHei"/>
              </a:defRPr>
            </a:pPr>
            <a:r>
              <a:t>比对历史指纹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1417320"/>
            <a:ext cx="5303520" cy="4937760"/>
          </a:xfrm>
          <a:prstGeom prst="roundRect">
            <a:avLst/>
          </a:prstGeom>
          <a:noFill/>
          <a:ln w="12700">
            <a:solidFill>
              <a:srgbClr val="FFCA2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1508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A28"/>
                </a:solidFill>
                <a:latin typeface="Microsoft YaHei"/>
              </a:defRPr>
            </a:pPr>
            <a:r>
              <a:t>⚡  Dynamic Signal Monitoring (DSM)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18288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A5"/>
                </a:solidFill>
                <a:latin typeface="Microsoft YaHei"/>
              </a:defRPr>
            </a:pPr>
            <a:r>
              <a:t>实时信号监控引擎  ·  2026 年 (Android 17) 上线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2240280"/>
            <a:ext cx="4754880" cy="685800"/>
          </a:xfrm>
          <a:prstGeom prst="roundRect">
            <a:avLst/>
          </a:prstGeom>
          <a:solidFill>
            <a:srgbClr val="1E2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92240" y="2240280"/>
            <a:ext cx="50800" cy="685800"/>
          </a:xfrm>
          <a:prstGeom prst="rect">
            <a:avLst/>
          </a:prstGeom>
          <a:solidFill>
            <a:srgbClr val="FFC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📡  实时信号采集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25603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900">
                <a:solidFill>
                  <a:srgbClr val="8B94A5"/>
                </a:solidFill>
                <a:latin typeface="Microsoft YaHei"/>
              </a:defRPr>
            </a:pPr>
            <a:r>
              <a:t>持续监控 App-系统交互事件</a:t>
            </a:r>
          </a:p>
          <a:p>
            <a:pPr>
              <a:spcAft>
                <a:spcPts val="179"/>
              </a:spcAft>
              <a:defRPr sz="900">
                <a:solidFill>
                  <a:srgbClr val="8B94A5"/>
                </a:solidFill>
                <a:latin typeface="Microsoft YaHei"/>
              </a:defRPr>
            </a:pPr>
            <a:r>
              <a:t>毫秒级行为信号捕获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3017520"/>
            <a:ext cx="4754880" cy="685800"/>
          </a:xfrm>
          <a:prstGeom prst="roundRect">
            <a:avLst/>
          </a:prstGeom>
          <a:solidFill>
            <a:srgbClr val="1E2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92240" y="3017520"/>
            <a:ext cx="50800" cy="685800"/>
          </a:xfrm>
          <a:prstGeom prst="rect">
            <a:avLst/>
          </a:prstGeom>
          <a:solidFill>
            <a:srgbClr val="FFC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0" y="3063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🔄  SMS 转发检测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33375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900">
                <a:solidFill>
                  <a:srgbClr val="8B94A5"/>
                </a:solidFill>
                <a:latin typeface="Microsoft YaHei"/>
              </a:defRPr>
            </a:pPr>
            <a:r>
              <a:t>识别 App 秘密转发短信</a:t>
            </a:r>
          </a:p>
          <a:p>
            <a:pPr>
              <a:spcAft>
                <a:spcPts val="179"/>
              </a:spcAft>
              <a:defRPr sz="900">
                <a:solidFill>
                  <a:srgbClr val="8B94A5"/>
                </a:solidFill>
                <a:latin typeface="Microsoft YaHei"/>
              </a:defRPr>
            </a:pPr>
            <a:r>
              <a:t>拦截 OTP 窃取行为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92240" y="3794760"/>
            <a:ext cx="4754880" cy="685800"/>
          </a:xfrm>
          <a:prstGeom prst="roundRect">
            <a:avLst/>
          </a:prstGeom>
          <a:solidFill>
            <a:srgbClr val="1E2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92240" y="3794760"/>
            <a:ext cx="50800" cy="685800"/>
          </a:xfrm>
          <a:prstGeom prst="rect">
            <a:avLst/>
          </a:prstGeom>
          <a:solidFill>
            <a:srgbClr val="FFC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0" y="3840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🖥️  叠加层攻击检测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41148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900">
                <a:solidFill>
                  <a:srgbClr val="8B94A5"/>
                </a:solidFill>
                <a:latin typeface="Microsoft YaHei"/>
              </a:defRPr>
            </a:pPr>
            <a:r>
              <a:t>检测无障碍权限滥用</a:t>
            </a:r>
          </a:p>
          <a:p>
            <a:pPr>
              <a:spcAft>
                <a:spcPts val="179"/>
              </a:spcAft>
              <a:defRPr sz="900">
                <a:solidFill>
                  <a:srgbClr val="8B94A5"/>
                </a:solidFill>
                <a:latin typeface="Microsoft YaHei"/>
              </a:defRPr>
            </a:pPr>
            <a:r>
              <a:t>发现隐形 UI 点击劫持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4572000"/>
            <a:ext cx="4754880" cy="685800"/>
          </a:xfrm>
          <a:prstGeom prst="roundRect">
            <a:avLst/>
          </a:prstGeom>
          <a:solidFill>
            <a:srgbClr val="1E2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92240" y="4572000"/>
            <a:ext cx="50800" cy="685800"/>
          </a:xfrm>
          <a:prstGeom prst="rect">
            <a:avLst/>
          </a:prstGeom>
          <a:solidFill>
            <a:srgbClr val="FFC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60" y="4617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👻  图标隐藏检测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48920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900">
                <a:solidFill>
                  <a:srgbClr val="8B94A5"/>
                </a:solidFill>
                <a:latin typeface="Microsoft YaHei"/>
              </a:defRPr>
            </a:pPr>
            <a:r>
              <a:t>侦测 App 隐藏图标后</a:t>
            </a:r>
          </a:p>
          <a:p>
            <a:pPr>
              <a:spcAft>
                <a:spcPts val="179"/>
              </a:spcAft>
              <a:defRPr sz="900">
                <a:solidFill>
                  <a:srgbClr val="8B94A5"/>
                </a:solidFill>
                <a:latin typeface="Microsoft YaHei"/>
              </a:defRPr>
            </a:pPr>
            <a:r>
              <a:t>在后台继续作恶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92240" y="5349240"/>
            <a:ext cx="4754880" cy="685800"/>
          </a:xfrm>
          <a:prstGeom prst="roundRect">
            <a:avLst/>
          </a:prstGeom>
          <a:solidFill>
            <a:srgbClr val="1E2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92240" y="5349240"/>
            <a:ext cx="50800" cy="685800"/>
          </a:xfrm>
          <a:prstGeom prst="rect">
            <a:avLst/>
          </a:prstGeom>
          <a:solidFill>
            <a:srgbClr val="FFC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66560" y="5394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📡  动态规则引擎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56692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900">
                <a:solidFill>
                  <a:srgbClr val="8B94A5"/>
                </a:solidFill>
                <a:latin typeface="Microsoft YaHei"/>
              </a:defRPr>
            </a:pPr>
            <a:r>
              <a:t>Google 云端热更新检测规则</a:t>
            </a:r>
          </a:p>
          <a:p>
            <a:pPr>
              <a:spcAft>
                <a:spcPts val="179"/>
              </a:spcAft>
              <a:defRPr sz="900">
                <a:solidFill>
                  <a:srgbClr val="8B94A5"/>
                </a:solidFill>
                <a:latin typeface="Microsoft YaHei"/>
              </a:defRPr>
            </a:pPr>
            <a:r>
              <a:t>零日威胁无需等待 OTA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80" y="3474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Microsoft YaHei"/>
              </a:defRPr>
            </a:pPr>
            <a:r>
              <a:t>DSM 是 LTD 的</a:t>
            </a:r>
            <a:br/>
            <a:r>
              <a:t>子能力/扩展模块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5303520" y="3291840"/>
            <a:ext cx="822960" cy="18288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ight Arrow 53"/>
          <p:cNvSpPr/>
          <p:nvPr/>
        </p:nvSpPr>
        <p:spPr>
          <a:xfrm>
            <a:off x="5760720" y="3291840"/>
            <a:ext cx="457200" cy="18288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B4250"/>
                </a:solidFill>
                <a:latin typeface="Microsoft YaHei"/>
              </a:defRPr>
            </a:pPr>
            <a:r>
              <a:t>LTD = 宏观行为分析引擎（"做什么"）  ·  DSM = 细粒度信号监控引擎（"怎么做的"）  ·  两者互补构成完整检测链路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检测流程与数据流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A5"/>
                </a:solidFill>
                <a:latin typeface="Microsoft YaHei"/>
              </a:defRPr>
            </a:pPr>
            <a:r>
              <a:t>从信号采集到威胁响应 — 完整链路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3B425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103120" cy="25603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103120" cy="381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2A5F5"/>
                </a:solidFill>
                <a:latin typeface="Microsoft YaHei"/>
              </a:defRPr>
            </a:pPr>
            <a:r>
              <a:t>①  信号采集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7744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App 行为事件</a:t>
            </a:r>
          </a:p>
          <a:p>
            <a:pPr>
              <a:spcAft>
                <a:spcPts val="72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系统调用</a:t>
            </a:r>
          </a:p>
          <a:p>
            <a:pPr>
              <a:spcAft>
                <a:spcPts val="72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权限请求</a:t>
            </a:r>
          </a:p>
          <a:p>
            <a:pPr>
              <a:spcAft>
                <a:spcPts val="72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网络/SMS/通话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06040" y="2926080"/>
            <a:ext cx="164592" cy="164592"/>
          </a:xfrm>
          <a:prstGeom prst="rightArrow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88920" y="1828800"/>
            <a:ext cx="2103120" cy="25603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8920" y="1828800"/>
            <a:ext cx="2103120" cy="381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965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285F4"/>
                </a:solidFill>
                <a:latin typeface="Microsoft YaHei"/>
              </a:defRPr>
            </a:pPr>
            <a:r>
              <a:t>②  信号预处理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37744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事件归一化</a:t>
            </a:r>
          </a:p>
          <a:p>
            <a:pPr>
              <a:spcAft>
                <a:spcPts val="72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特征提取</a:t>
            </a:r>
          </a:p>
          <a:p>
            <a:pPr>
              <a:spcAft>
                <a:spcPts val="72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上下文关联</a:t>
            </a:r>
          </a:p>
          <a:p>
            <a:pPr>
              <a:spcAft>
                <a:spcPts val="72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时间窗口聚合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937760" y="2926080"/>
            <a:ext cx="164592" cy="164592"/>
          </a:xfrm>
          <a:prstGeom prst="rightArrow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20640" y="1828800"/>
            <a:ext cx="2103120" cy="25603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1828800"/>
            <a:ext cx="210312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1965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③  AI 推理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37744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LTD 行为模型</a:t>
            </a:r>
          </a:p>
          <a:p>
            <a:pPr>
              <a:spcAft>
                <a:spcPts val="72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DSM 信号模型</a:t>
            </a:r>
          </a:p>
          <a:p>
            <a:pPr>
              <a:spcAft>
                <a:spcPts val="72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异常评分</a:t>
            </a:r>
          </a:p>
          <a:p>
            <a:pPr>
              <a:spcAft>
                <a:spcPts val="72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威胁分类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269480" y="2926080"/>
            <a:ext cx="164592" cy="164592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52359" y="1828800"/>
            <a:ext cx="2103120" cy="25603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52359" y="1828800"/>
            <a:ext cx="2103120" cy="38100"/>
          </a:xfrm>
          <a:prstGeom prst="rect">
            <a:avLst/>
          </a:prstGeom>
          <a:solidFill>
            <a:srgbClr val="FFC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19" y="1965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A28"/>
                </a:solidFill>
                <a:latin typeface="Microsoft YaHei"/>
              </a:defRPr>
            </a:pPr>
            <a:r>
              <a:t>④  决策引擎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19" y="237744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威胁等级判定</a:t>
            </a:r>
          </a:p>
          <a:p>
            <a:pPr>
              <a:spcAft>
                <a:spcPts val="72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误报过滤</a:t>
            </a:r>
          </a:p>
          <a:p>
            <a:pPr>
              <a:spcAft>
                <a:spcPts val="72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用户风险画像</a:t>
            </a:r>
          </a:p>
          <a:p>
            <a:pPr>
              <a:spcAft>
                <a:spcPts val="72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规则匹配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601199" y="2926080"/>
            <a:ext cx="164592" cy="164592"/>
          </a:xfrm>
          <a:prstGeom prst="rightArrow">
            <a:avLst/>
          </a:prstGeom>
          <a:solidFill>
            <a:srgbClr val="FFC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84080" y="1828800"/>
            <a:ext cx="2103120" cy="25603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1828800"/>
            <a:ext cx="2103120" cy="381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21240" y="1965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335"/>
                </a:solidFill>
                <a:latin typeface="Microsoft YaHei"/>
              </a:defRPr>
            </a:pPr>
            <a:r>
              <a:t>⑤  响应动作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37744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实时通知</a:t>
            </a:r>
          </a:p>
          <a:p>
            <a:pPr>
              <a:spcAft>
                <a:spcPts val="72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Dashboard 告警</a:t>
            </a:r>
          </a:p>
          <a:p>
            <a:pPr>
              <a:spcAft>
                <a:spcPts val="72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自动限制权限</a:t>
            </a:r>
          </a:p>
          <a:p>
            <a:pPr>
              <a:spcAft>
                <a:spcPts val="72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建议卸载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754880"/>
            <a:ext cx="11247120" cy="685800"/>
          </a:xfrm>
          <a:prstGeom prst="roundRect">
            <a:avLst/>
          </a:prstGeom>
          <a:solidFill>
            <a:srgbClr val="1E2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846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⏱️  全链路延迟 &lt; 2s：信号采集 (ms级) → 预处理 (ms级) → AI 推理 (100-500ms) → 决策 + 响应 (&lt; 1s)</a:t>
            </a:r>
          </a:p>
          <a:p>
            <a:pPr>
              <a:spcAft>
                <a:spcPts val="600"/>
              </a:spcAft>
              <a:defRPr sz="1200">
                <a:solidFill>
                  <a:srgbClr val="B0B8C4"/>
                </a:solidFill>
                <a:latin typeface="Microsoft YaHei"/>
              </a:defRPr>
            </a:pPr>
            <a:r>
              <a:t>🔒  信号采集至决策引擎均在 Private Compute Core 内执行，Google Cloud 仅提供规则更新（虚线路径）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CA28"/>
                </a:solidFill>
                <a:latin typeface="Microsoft YaHei"/>
              </a:defRPr>
            </a:pPr>
            <a:r>
              <a:t>☁️ Google Cloud ─ ─ → ④ 决策引擎（规则热更新，仅下发检测规则，不上传用户数据）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89320"/>
            <a:ext cx="11247120" cy="38100"/>
          </a:xfrm>
          <a:prstGeom prst="rect">
            <a:avLst/>
          </a:prstGeom>
          <a:solidFill>
            <a:srgbClr val="3B4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B4250"/>
                </a:solidFill>
                <a:latin typeface="Microsoft YaHei"/>
              </a:defRPr>
            </a:pPr>
            <a:r>
              <a:t>LTD (2024) → LTD + Dashboard (2025) → LTD + DSM + Financial Call Verification (2026)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检测范围演进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A5"/>
                </a:solidFill>
                <a:latin typeface="Microsoft YaHei"/>
              </a:defRPr>
            </a:pPr>
            <a:r>
              <a:t>从单一到全面 — 威胁覆盖面的持续扩展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3B425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74720" cy="64008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2024  ·  起步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3474720" cy="6400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50800" cy="6400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icrosoft YaHei"/>
              </a:defRPr>
            </a:pPr>
            <a:r>
              <a:t>✓  Stalkerware 检测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3474720" cy="6400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246120"/>
            <a:ext cx="50800" cy="6400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icrosoft YaHei"/>
              </a:defRPr>
            </a:pPr>
            <a:r>
              <a:t>✓  敏感数据收集识别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474720" cy="6400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023360"/>
            <a:ext cx="50800" cy="6400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icrosoft YaHei"/>
              </a:defRPr>
            </a:pPr>
            <a:r>
              <a:t>✓  侧载 APK 扫描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00600"/>
            <a:ext cx="3474720" cy="6400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800600"/>
            <a:ext cx="50800" cy="6400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37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icrosoft YaHei"/>
              </a:defRPr>
            </a:pPr>
            <a:r>
              <a:t>✓  基础权限滥用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1554480"/>
            <a:ext cx="3474720" cy="640080"/>
          </a:xfrm>
          <a:prstGeom prst="round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162763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2025  ·  扩展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2468880"/>
            <a:ext cx="3474720" cy="6400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59" y="2468880"/>
            <a:ext cx="50800" cy="64008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39" y="2606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icrosoft YaHei"/>
              </a:defRPr>
            </a:pPr>
            <a:r>
              <a:t>✓  图标/名称伪装检测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3246120"/>
            <a:ext cx="3474720" cy="6400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59" y="3246120"/>
            <a:ext cx="50800" cy="64008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39" y="3383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icrosoft YaHei"/>
              </a:defRPr>
            </a:pPr>
            <a:r>
              <a:t>✓  后台隐藏行为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59" y="4023360"/>
            <a:ext cx="3474720" cy="6400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59" y="4023360"/>
            <a:ext cx="50800" cy="64008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39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icrosoft YaHei"/>
              </a:defRPr>
            </a:pPr>
            <a:r>
              <a:t>✓  多 OEM 覆盖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59" y="4800600"/>
            <a:ext cx="3474720" cy="6400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0559" y="4800600"/>
            <a:ext cx="50800" cy="64008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39" y="4937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icrosoft YaHei"/>
              </a:defRPr>
            </a:pPr>
            <a:r>
              <a:t>✓  Dashboard 可视化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1554480"/>
            <a:ext cx="3474720" cy="64008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162763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2026  ·  深化 (DSM)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2468880"/>
            <a:ext cx="3474720" cy="6400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2468880"/>
            <a:ext cx="50800" cy="6400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2606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icrosoft YaHei"/>
              </a:defRPr>
            </a:pPr>
            <a:r>
              <a:t>✓  SMS 秘密转发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3246120"/>
            <a:ext cx="3474720" cy="6400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600" y="3246120"/>
            <a:ext cx="50800" cy="6400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0" y="3383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icrosoft YaHei"/>
              </a:defRPr>
            </a:pPr>
            <a:r>
              <a:t>✓  无障碍叠加攻击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0" y="4023360"/>
            <a:ext cx="3474720" cy="6400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0" y="4023360"/>
            <a:ext cx="50800" cy="6400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icrosoft YaHei"/>
              </a:defRPr>
            </a:pPr>
            <a:r>
              <a:t>✓  Chrome APK 预扫描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0" y="4800600"/>
            <a:ext cx="3474720" cy="6400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29600" y="4800600"/>
            <a:ext cx="50800" cy="6400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0" y="4937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4"/>
                </a:solidFill>
                <a:latin typeface="Microsoft YaHei"/>
              </a:defRPr>
            </a:pPr>
            <a:r>
              <a:t>✓  银行诈骗来电识别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4297680" y="1691640"/>
            <a:ext cx="228600" cy="32004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ight Arrow 48"/>
          <p:cNvSpPr/>
          <p:nvPr/>
        </p:nvSpPr>
        <p:spPr>
          <a:xfrm>
            <a:off x="8046720" y="1691640"/>
            <a:ext cx="228600" cy="32004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31520" y="5669280"/>
            <a:ext cx="10515600" cy="685800"/>
          </a:xfrm>
          <a:prstGeom prst="roundRect">
            <a:avLst/>
          </a:prstGeom>
          <a:solidFill>
            <a:srgbClr val="0A2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5840" y="5760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🔮  DSM = Dynamic Signal Monitoring：规则持续热更新，未知威胁零日响应，无需等待系统 OTA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2026 安全生态全景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A5"/>
                </a:solidFill>
                <a:latin typeface="Microsoft YaHei"/>
              </a:defRPr>
            </a:pPr>
            <a:r>
              <a:t>Android 17 · 全方位实时威胁防御体系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3B425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74720" cy="2103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47472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🔍  LTD 行为检测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  <a:r>
              <a:t>端侧 AI 实时监控</a:t>
            </a:r>
          </a:p>
          <a:p>
            <a:pPr>
              <a:spcAft>
                <a:spcPts val="90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  <a:r>
              <a:t>App 异常行为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554480"/>
            <a:ext cx="3474720" cy="2103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554480"/>
            <a:ext cx="3474720" cy="38100"/>
          </a:xfrm>
          <a:prstGeom prst="rect">
            <a:avLst/>
          </a:prstGeom>
          <a:solidFill>
            <a:srgbClr val="FFC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⚡  DSM 信号监控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3774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  <a:r>
              <a:t>实时模式分析</a:t>
            </a:r>
          </a:p>
          <a:p>
            <a:pPr>
              <a:spcAft>
                <a:spcPts val="90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  <a:r>
              <a:t>规则热更新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54480"/>
            <a:ext cx="3474720" cy="2103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554480"/>
            <a:ext cx="3474720" cy="381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📵  SMS OTP 隔离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3774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  <a:r>
              <a:t>验证码 3h 自动隐藏</a:t>
            </a:r>
          </a:p>
          <a:p>
            <a:pPr>
              <a:spcAft>
                <a:spcPts val="90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  <a:r>
              <a:t>防止 App 窃取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3474720" cy="2103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931920"/>
            <a:ext cx="3474720" cy="381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🏦  银行来电验证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754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  <a:r>
              <a:t>系统级对接银行</a:t>
            </a:r>
          </a:p>
          <a:p>
            <a:pPr>
              <a:spcAft>
                <a:spcPts val="90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  <a:r>
              <a:t>自动挂断诈骗电话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3931920"/>
            <a:ext cx="3474720" cy="2103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59" y="3931920"/>
            <a:ext cx="3474720" cy="381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79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🌐  Chrome Safe Browsing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79" y="4754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  <a:r>
              <a:t>APK 下载完成前</a:t>
            </a:r>
          </a:p>
          <a:p>
            <a:pPr>
              <a:spcAft>
                <a:spcPts val="90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  <a:r>
              <a:t>即扫描恶意软件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931920"/>
            <a:ext cx="3474720" cy="2103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931920"/>
            <a:ext cx="3474720" cy="381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🛡️  高级保护模式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754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  <a:r>
              <a:t>无障碍工具管控</a:t>
            </a:r>
          </a:p>
          <a:p>
            <a:pPr>
              <a:spcAft>
                <a:spcPts val="90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  <a:r>
              <a:t>WebGPU 禁用等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设计原则与总结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A5"/>
                </a:solidFill>
                <a:latin typeface="Microsoft YaHei"/>
              </a:defRPr>
            </a:pPr>
            <a:r>
              <a:t>LTD + DSM 的核心设计哲学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3B425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303520" cy="80467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63500" cy="80467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361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🔒  隐私优先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745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A5"/>
                </a:solidFill>
                <a:latin typeface="Microsoft YaHei"/>
              </a:defRPr>
            </a:pPr>
            <a:r>
              <a:t>全端侧处理  |  零云端数据上传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23160"/>
            <a:ext cx="5303520" cy="80467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423160"/>
            <a:ext cx="63500" cy="80467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4963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📈  渐进扩展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346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A5"/>
                </a:solidFill>
                <a:latin typeface="Microsoft YaHei"/>
              </a:defRPr>
            </a:pPr>
            <a:r>
              <a:t>Pixel → 主流 OEM  |  Stalkerware → 全方位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83280"/>
            <a:ext cx="5303520" cy="80467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383280"/>
            <a:ext cx="63500" cy="80467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564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⚡  规则热更新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94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A5"/>
                </a:solidFill>
                <a:latin typeface="Microsoft YaHei"/>
              </a:defRPr>
            </a:pPr>
            <a:r>
              <a:t>DSM 云端下发检测规则  |  无需等待系统 OTA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43400"/>
            <a:ext cx="5303520" cy="80467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343400"/>
            <a:ext cx="63500" cy="80467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4165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👁️  用户可见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7548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A5"/>
                </a:solidFill>
                <a:latin typeface="Microsoft YaHei"/>
              </a:defRPr>
            </a:pPr>
            <a:r>
              <a:t>Dashboard 透明展示  |  标记原因 + 操作选项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03520"/>
            <a:ext cx="5303520" cy="80467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5303520"/>
            <a:ext cx="63500" cy="80467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3766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🧩  模块互补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715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A5"/>
                </a:solidFill>
                <a:latin typeface="Microsoft YaHei"/>
              </a:defRPr>
            </a:pPr>
            <a:r>
              <a:t>LTD 宏观行为分析  |  DSM 细粒度信号监控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1463040"/>
            <a:ext cx="4846320" cy="47548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0" y="1463040"/>
            <a:ext cx="484632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645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  <a:latin typeface="Microsoft YaHei"/>
              </a:defRPr>
            </a:pPr>
            <a:r>
              <a:t>📋  一句话总结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  <a:r>
              <a:t>Android Live Threat Detection</a:t>
            </a:r>
          </a:p>
          <a:p>
            <a:pPr>
              <a:spcAft>
                <a:spcPts val="45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  <a:r>
              <a:t>从 2024 年的端侧 Stalkerware</a:t>
            </a:r>
          </a:p>
          <a:p>
            <a:pPr>
              <a:spcAft>
                <a:spcPts val="45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  <a:r>
              <a:t>检测起步，配合 2026 年的</a:t>
            </a:r>
          </a:p>
          <a:p>
            <a:pPr>
              <a:spcAft>
                <a:spcPts val="45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  <a:r>
              <a:t>Dynamic Signal Monitoring，</a:t>
            </a:r>
          </a:p>
          <a:p>
            <a:pPr>
              <a:spcAft>
                <a:spcPts val="45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  <a:r>
              <a:t>正快速演进为一套</a:t>
            </a:r>
          </a:p>
          <a:p>
            <a:pPr>
              <a:spcAft>
                <a:spcPts val="45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  <a:r>
              <a:t>覆盖恶意 App · 诈骗电话</a:t>
            </a:r>
          </a:p>
          <a:p>
            <a:pPr>
              <a:spcAft>
                <a:spcPts val="45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  <a:r>
              <a:t>钓鱼 SMS · 无障碍攻击 ·</a:t>
            </a:r>
          </a:p>
          <a:p>
            <a:pPr>
              <a:spcAft>
                <a:spcPts val="45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  <a:r>
              <a:t>伪装行为的</a:t>
            </a:r>
          </a:p>
          <a:p>
            <a:pPr>
              <a:spcAft>
                <a:spcPts val="45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  <a:r>
              <a:t>全方位实时威胁防御体系。</a:t>
            </a:r>
          </a:p>
          <a:p>
            <a:pPr>
              <a:spcAft>
                <a:spcPts val="45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  <a:r>
              <a:t>—— 让安全从"一次性体检"</a:t>
            </a:r>
          </a:p>
          <a:p>
            <a:pPr>
              <a:spcAft>
                <a:spcPts val="450"/>
              </a:spcAft>
              <a:defRPr sz="1500">
                <a:solidFill>
                  <a:srgbClr val="B0B8C4"/>
                </a:solidFill>
                <a:latin typeface="Microsoft YaHei"/>
              </a:defRPr>
            </a:pPr>
            <a:r>
              <a:t>     变成"全天候免疫系统"。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7607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3B4250"/>
                </a:solidFill>
                <a:latin typeface="Microsoft YaHei"/>
              </a:defRPr>
            </a:pPr>
            <a:r>
              <a:t>Powered by Google Play Protect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834640"/>
            <a:ext cx="22860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B94A5"/>
                </a:solidFill>
                <a:latin typeface="Microsoft YaHei"/>
              </a:defRPr>
            </a:pPr>
            <a:r>
              <a:t>Android Live Threat Detection  ·  演进 &amp; 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B4250"/>
                </a:solidFill>
                <a:latin typeface="Microsoft YaHei"/>
              </a:defRPr>
            </a:pPr>
            <a:r>
              <a:t>LTD + DSM  |  从端侧 AI 到全方位实时威胁防御  |  2024 –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5029200"/>
            <a:ext cx="457200" cy="45720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12080" y="5029200"/>
            <a:ext cx="457200" cy="457200"/>
          </a:xfrm>
          <a:prstGeom prst="round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0" y="5029200"/>
            <a:ext cx="457200" cy="457200"/>
          </a:xfrm>
          <a:prstGeom prst="round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5029200"/>
            <a:ext cx="457200" cy="45720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